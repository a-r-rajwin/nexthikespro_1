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OneDrive\Desktop\Final\Bike_Complete_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OneDrive\Desktop\Final\Bike_Complete_Datas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OneDrive\Desktop\Final\Bike_Complete_Datas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[Bike_Complete_Dataset.xlsx]Stastistics!PivotTable4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Total Customer Vs Wind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</c:pivotFmts>
    <c:plotArea>
      <c:layout/>
      <c:pieChart>
        <c:varyColors val="1"/>
        <c:ser>
          <c:idx val="0"/>
          <c:order val="0"/>
          <c:tx>
            <c:strRef>
              <c:f>Stastistics!$E$119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8000"/>
                      <a:hueMod val="94000"/>
                      <a:satMod val="130000"/>
                      <a:lumMod val="128000"/>
                    </a:schemeClr>
                  </a:gs>
                  <a:gs pos="100000">
                    <a:schemeClr val="accent1">
                      <a:shade val="94000"/>
                      <a:lumMod val="8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38100" dir="5400000" rotWithShape="0">
                  <a:srgbClr val="000000">
                    <a:alpha val="46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1-3368-4727-AF5C-355EE632D566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8000"/>
                      <a:hueMod val="94000"/>
                      <a:satMod val="130000"/>
                      <a:lumMod val="128000"/>
                    </a:schemeClr>
                  </a:gs>
                  <a:gs pos="100000">
                    <a:schemeClr val="accent2">
                      <a:shade val="94000"/>
                      <a:lumMod val="8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38100" dir="5400000" rotWithShape="0">
                  <a:srgbClr val="000000">
                    <a:alpha val="46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3-3368-4727-AF5C-355EE632D566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98000"/>
                      <a:hueMod val="94000"/>
                      <a:satMod val="130000"/>
                      <a:lumMod val="128000"/>
                    </a:schemeClr>
                  </a:gs>
                  <a:gs pos="100000">
                    <a:schemeClr val="accent3">
                      <a:shade val="94000"/>
                      <a:lumMod val="8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38100" dir="5400000" rotWithShape="0">
                  <a:srgbClr val="000000">
                    <a:alpha val="46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5-3368-4727-AF5C-355EE632D56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Stastistics!$D$120:$D$123</c:f>
              <c:strCache>
                <c:ptCount val="3"/>
                <c:pt idx="0">
                  <c:v>Calm</c:v>
                </c:pt>
                <c:pt idx="1">
                  <c:v>Moderate</c:v>
                </c:pt>
                <c:pt idx="2">
                  <c:v>Windy</c:v>
                </c:pt>
              </c:strCache>
            </c:strRef>
          </c:cat>
          <c:val>
            <c:numRef>
              <c:f>Stastistics!$E$120:$E$123</c:f>
              <c:numCache>
                <c:formatCode>General</c:formatCode>
                <c:ptCount val="3"/>
                <c:pt idx="0">
                  <c:v>21605</c:v>
                </c:pt>
                <c:pt idx="1">
                  <c:v>24285</c:v>
                </c:pt>
                <c:pt idx="2">
                  <c:v>12414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368-4727-AF5C-355EE632D566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[Bike_Complete_Dataset.xlsx]Stastistics!PivotTable5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Temperature</a:t>
            </a:r>
            <a:r>
              <a:rPr lang="en-IN" baseline="0"/>
              <a:t> vs Customer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</c:pivotFmts>
    <c:plotArea>
      <c:layout/>
      <c:pieChart>
        <c:varyColors val="1"/>
        <c:ser>
          <c:idx val="0"/>
          <c:order val="0"/>
          <c:tx>
            <c:strRef>
              <c:f>Stastistics!$H$119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8000"/>
                      <a:hueMod val="94000"/>
                      <a:satMod val="130000"/>
                      <a:lumMod val="128000"/>
                    </a:schemeClr>
                  </a:gs>
                  <a:gs pos="100000">
                    <a:schemeClr val="accent1">
                      <a:shade val="94000"/>
                      <a:lumMod val="8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38100" dir="5400000" rotWithShape="0">
                  <a:srgbClr val="000000">
                    <a:alpha val="46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1-DA19-4FFA-949B-40C3DF28D20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8000"/>
                      <a:hueMod val="94000"/>
                      <a:satMod val="130000"/>
                      <a:lumMod val="128000"/>
                    </a:schemeClr>
                  </a:gs>
                  <a:gs pos="100000">
                    <a:schemeClr val="accent2">
                      <a:shade val="94000"/>
                      <a:lumMod val="8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38100" dir="5400000" rotWithShape="0">
                  <a:srgbClr val="000000">
                    <a:alpha val="46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3-DA19-4FFA-949B-40C3DF28D20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98000"/>
                      <a:hueMod val="94000"/>
                      <a:satMod val="130000"/>
                      <a:lumMod val="128000"/>
                    </a:schemeClr>
                  </a:gs>
                  <a:gs pos="100000">
                    <a:schemeClr val="accent3">
                      <a:shade val="94000"/>
                      <a:lumMod val="8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38100" dir="5400000" rotWithShape="0">
                  <a:srgbClr val="000000">
                    <a:alpha val="46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5-DA19-4FFA-949B-40C3DF28D202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98000"/>
                      <a:hueMod val="94000"/>
                      <a:satMod val="130000"/>
                      <a:lumMod val="128000"/>
                    </a:schemeClr>
                  </a:gs>
                  <a:gs pos="100000">
                    <a:schemeClr val="accent4">
                      <a:shade val="94000"/>
                      <a:lumMod val="8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38100" dir="5400000" rotWithShape="0">
                  <a:srgbClr val="000000">
                    <a:alpha val="46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7-DA19-4FFA-949B-40C3DF28D202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tint val="98000"/>
                      <a:hueMod val="94000"/>
                      <a:satMod val="130000"/>
                      <a:lumMod val="128000"/>
                    </a:schemeClr>
                  </a:gs>
                  <a:gs pos="100000">
                    <a:schemeClr val="accent5">
                      <a:shade val="94000"/>
                      <a:lumMod val="8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38100" dir="5400000" rotWithShape="0">
                  <a:srgbClr val="000000">
                    <a:alpha val="46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9-DA19-4FFA-949B-40C3DF28D202}"/>
              </c:ext>
            </c:extLst>
          </c:dPt>
          <c:dLbls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Stastistics!$G$120:$G$125</c:f>
              <c:strCache>
                <c:ptCount val="5"/>
                <c:pt idx="0">
                  <c:v>Cold</c:v>
                </c:pt>
                <c:pt idx="1">
                  <c:v>Hot</c:v>
                </c:pt>
                <c:pt idx="2">
                  <c:v>Mild</c:v>
                </c:pt>
                <c:pt idx="3">
                  <c:v>Very Cold</c:v>
                </c:pt>
                <c:pt idx="4">
                  <c:v>Warm</c:v>
                </c:pt>
              </c:strCache>
            </c:strRef>
          </c:cat>
          <c:val>
            <c:numRef>
              <c:f>Stastistics!$H$120:$H$125</c:f>
              <c:numCache>
                <c:formatCode>General</c:formatCode>
                <c:ptCount val="5"/>
                <c:pt idx="0">
                  <c:v>32151</c:v>
                </c:pt>
                <c:pt idx="1">
                  <c:v>265</c:v>
                </c:pt>
                <c:pt idx="2">
                  <c:v>13110</c:v>
                </c:pt>
                <c:pt idx="3">
                  <c:v>9218</c:v>
                </c:pt>
                <c:pt idx="4">
                  <c:v>3560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A19-4FFA-949B-40C3DF28D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[Bike_Complete_Dataset.xlsx]Stastistics!PivotTable6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Humidity</a:t>
            </a:r>
            <a:r>
              <a:rPr lang="en-IN" baseline="0"/>
              <a:t> vs Customer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c:spPr>
      </c:pivotFmt>
    </c:pivotFmts>
    <c:plotArea>
      <c:layout/>
      <c:pieChart>
        <c:varyColors val="1"/>
        <c:ser>
          <c:idx val="0"/>
          <c:order val="0"/>
          <c:tx>
            <c:strRef>
              <c:f>Stastistics!$K$119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8000"/>
                      <a:hueMod val="94000"/>
                      <a:satMod val="130000"/>
                      <a:lumMod val="128000"/>
                    </a:schemeClr>
                  </a:gs>
                  <a:gs pos="100000">
                    <a:schemeClr val="accent1">
                      <a:shade val="94000"/>
                      <a:lumMod val="8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38100" dir="5400000" rotWithShape="0">
                  <a:srgbClr val="000000">
                    <a:alpha val="46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1-143C-4C5F-84FE-1DEE1F9013AE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8000"/>
                      <a:hueMod val="94000"/>
                      <a:satMod val="130000"/>
                      <a:lumMod val="128000"/>
                    </a:schemeClr>
                  </a:gs>
                  <a:gs pos="100000">
                    <a:schemeClr val="accent2">
                      <a:shade val="94000"/>
                      <a:lumMod val="8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38100" dir="5400000" rotWithShape="0">
                  <a:srgbClr val="000000">
                    <a:alpha val="46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3-143C-4C5F-84FE-1DEE1F9013AE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98000"/>
                      <a:hueMod val="94000"/>
                      <a:satMod val="130000"/>
                      <a:lumMod val="128000"/>
                    </a:schemeClr>
                  </a:gs>
                  <a:gs pos="100000">
                    <a:schemeClr val="accent3">
                      <a:shade val="94000"/>
                      <a:lumMod val="8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38100" dir="5400000" rotWithShape="0">
                  <a:srgbClr val="000000">
                    <a:alpha val="46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  <a:sp3d prstMaterial="plastic">
                <a:bevelT w="25400" h="25400"/>
              </a:sp3d>
            </c:spPr>
            <c:extLst>
              <c:ext xmlns:c16="http://schemas.microsoft.com/office/drawing/2014/chart" uri="{C3380CC4-5D6E-409C-BE32-E72D297353CC}">
                <c16:uniqueId val="{00000005-143C-4C5F-84FE-1DEE1F9013AE}"/>
              </c:ext>
            </c:extLst>
          </c:dPt>
          <c:dLbls>
            <c:spPr>
              <a:solidFill>
                <a:sysClr val="window" lastClr="FFFFFF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Stastistics!$J$120:$J$123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Stastistics!$K$120:$K$123</c:f>
              <c:numCache>
                <c:formatCode>General</c:formatCode>
                <c:ptCount val="3"/>
                <c:pt idx="0">
                  <c:v>11986</c:v>
                </c:pt>
                <c:pt idx="1">
                  <c:v>13194</c:v>
                </c:pt>
                <c:pt idx="2">
                  <c:v>33124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43C-4C5F-84FE-1DEE1F9013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37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990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119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58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277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108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762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475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509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44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555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9530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550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8403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215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6220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632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6A925B9-1971-4FD3-B879-122D88F1990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7E09F37-32A9-4C77-8A0F-B856FF789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2072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5911-72BF-8A4D-7481-9F96059AE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5678" y="707921"/>
            <a:ext cx="9144000" cy="1655762"/>
          </a:xfrm>
        </p:spPr>
        <p:txBody>
          <a:bodyPr>
            <a:normAutofit/>
          </a:bodyPr>
          <a:lstStyle/>
          <a:p>
            <a:pPr algn="ctr"/>
            <a:r>
              <a:rPr lang="en-IN" sz="9600" dirty="0"/>
              <a:t>NEXTHIKES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05D44-68FE-9A76-58C6-3304BF5FD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678" y="2871020"/>
            <a:ext cx="9144000" cy="1993491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IN" sz="6600" dirty="0"/>
              <a:t>Project – 1</a:t>
            </a:r>
          </a:p>
          <a:p>
            <a:pPr algn="ctr"/>
            <a:r>
              <a:rPr lang="en-IN" sz="6600" dirty="0"/>
              <a:t>Bike Sharing Demand Analysis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86FA167-DBAA-6D22-B048-07A847EE6D9A}"/>
              </a:ext>
            </a:extLst>
          </p:cNvPr>
          <p:cNvSpPr txBox="1">
            <a:spLocks/>
          </p:cNvSpPr>
          <p:nvPr/>
        </p:nvSpPr>
        <p:spPr>
          <a:xfrm>
            <a:off x="6518789" y="5355615"/>
            <a:ext cx="5142270" cy="5520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/>
              <a:t>- RAJWIN GEORGE A R</a:t>
            </a:r>
          </a:p>
        </p:txBody>
      </p:sp>
    </p:spTree>
    <p:extLst>
      <p:ext uri="{BB962C8B-B14F-4D97-AF65-F5344CB8AC3E}">
        <p14:creationId xmlns:p14="http://schemas.microsoft.com/office/powerpoint/2010/main" val="4085764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15A7-FFB0-DD35-0C6B-2B49E5B3D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02" y="456106"/>
            <a:ext cx="8534400" cy="1507067"/>
          </a:xfrm>
        </p:spPr>
        <p:txBody>
          <a:bodyPr/>
          <a:lstStyle/>
          <a:p>
            <a:r>
              <a:rPr lang="en-IN" dirty="0"/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B39BD-95EB-553E-27B5-6A3174B44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523" y="1963173"/>
            <a:ext cx="10036277" cy="3464233"/>
          </a:xfrm>
        </p:spPr>
        <p:txBody>
          <a:bodyPr anchor="t">
            <a:normAutofit/>
          </a:bodyPr>
          <a:lstStyle/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IN" sz="2400" dirty="0"/>
              <a:t>Analysing bike-sharing data helps understand how weather, time, and holidays affect bike rentals. 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IN" sz="2400" dirty="0"/>
              <a:t>This project uses Excel skills to clean, combine, and study datasets to find useful patterns that improve business planning.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IN" sz="2400" dirty="0"/>
              <a:t>Organized data leads to better decisions faster. 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IN" sz="2400" dirty="0"/>
              <a:t>Create charts, graphs and descriptive statistics for better and easier understanding of the data.</a:t>
            </a:r>
          </a:p>
        </p:txBody>
      </p:sp>
    </p:spTree>
    <p:extLst>
      <p:ext uri="{BB962C8B-B14F-4D97-AF65-F5344CB8AC3E}">
        <p14:creationId xmlns:p14="http://schemas.microsoft.com/office/powerpoint/2010/main" val="2111026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5EC20-B2D3-618D-80CC-0BAC3291E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02" y="484391"/>
            <a:ext cx="8534400" cy="1507067"/>
          </a:xfrm>
        </p:spPr>
        <p:txBody>
          <a:bodyPr/>
          <a:lstStyle/>
          <a:p>
            <a:r>
              <a:rPr lang="en-IN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B2B8D-368B-9DE3-E992-E80D9A1D9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5006" y="1825625"/>
            <a:ext cx="9888794" cy="3916414"/>
          </a:xfrm>
        </p:spPr>
        <p:txBody>
          <a:bodyPr anchor="t"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sz="2400" dirty="0"/>
              <a:t>Total of 3 datasets are given for this project.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First dataset contains first half of the columns of the first half of the complete dataset.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Second dataset contains second half of the columns of the first half of the complete dataset.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Third dataset contains second half of the complete dataset.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There are total of 13 columns and 1001 rows(1 row for header and 1000 row for data) in the over all combined dataset.</a:t>
            </a:r>
          </a:p>
        </p:txBody>
      </p:sp>
    </p:spTree>
    <p:extLst>
      <p:ext uri="{BB962C8B-B14F-4D97-AF65-F5344CB8AC3E}">
        <p14:creationId xmlns:p14="http://schemas.microsoft.com/office/powerpoint/2010/main" val="3085734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ADCB-D06A-8C7B-8084-147FA6EF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03" y="377552"/>
            <a:ext cx="8534400" cy="1507067"/>
          </a:xfrm>
        </p:spPr>
        <p:txBody>
          <a:bodyPr/>
          <a:lstStyle/>
          <a:p>
            <a:r>
              <a:rPr lang="en-IN" dirty="0"/>
              <a:t>Objectives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1C1CF-3C9B-C351-E134-C9AFF5EDD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284" y="1884619"/>
            <a:ext cx="9758516" cy="4351338"/>
          </a:xfrm>
        </p:spPr>
        <p:txBody>
          <a:bodyPr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/>
              <a:t>Find and Fill the missing Values.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Look for duplicates and delete it.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Delete the unwanted columns.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Rename the columns for better readability.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Change the datatypes of the values.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4C6949-A867-B7E0-87CE-57544C293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915" y="4080104"/>
            <a:ext cx="3559602" cy="2446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5A48FC-7D72-4C1C-B061-4A0A3C6D7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547" y="1393689"/>
            <a:ext cx="4893500" cy="249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740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B4BE8-AECA-A3BB-4D5C-A50288C10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9" y="318558"/>
            <a:ext cx="8534400" cy="1507067"/>
          </a:xfrm>
        </p:spPr>
        <p:txBody>
          <a:bodyPr/>
          <a:lstStyle/>
          <a:p>
            <a:r>
              <a:rPr lang="en-IN" dirty="0"/>
              <a:t>Objectives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19599-792B-AB5A-0C29-45DAF03C8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6348" y="1825625"/>
            <a:ext cx="9967452" cy="3611614"/>
          </a:xfrm>
        </p:spPr>
        <p:txBody>
          <a:bodyPr anchor="t"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sz="2400" dirty="0"/>
              <a:t>Create the complete dataset of first half of the complete dataset by merging first and second dataset using merge option in data.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In process of merging remove the duplicate columns.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Create the complete dataset by using the dataset that is merged(first dataset + second dataset) and third dataset using append option in data.</a:t>
            </a:r>
          </a:p>
        </p:txBody>
      </p:sp>
    </p:spTree>
    <p:extLst>
      <p:ext uri="{BB962C8B-B14F-4D97-AF65-F5344CB8AC3E}">
        <p14:creationId xmlns:p14="http://schemas.microsoft.com/office/powerpoint/2010/main" val="4059234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95A6B-0D84-5F16-511E-911139BF9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567" y="318558"/>
            <a:ext cx="8534400" cy="1507067"/>
          </a:xfrm>
        </p:spPr>
        <p:txBody>
          <a:bodyPr/>
          <a:lstStyle/>
          <a:p>
            <a:r>
              <a:rPr lang="en-IN" dirty="0"/>
              <a:t>Objective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09CFD-366A-0C9B-EEDB-6B9487211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670" y="1825625"/>
            <a:ext cx="9869129" cy="3808259"/>
          </a:xfrm>
        </p:spPr>
        <p:txBody>
          <a:bodyPr anchor="t">
            <a:normAutofit/>
          </a:bodyPr>
          <a:lstStyle/>
          <a:p>
            <a:pPr algn="just"/>
            <a:r>
              <a:rPr lang="en-IN" sz="2400" dirty="0"/>
              <a:t>We create new columns by categorizing the data to create a ready and easily readable charts and graphs.</a:t>
            </a:r>
          </a:p>
          <a:p>
            <a:pPr algn="just"/>
            <a:r>
              <a:rPr lang="en-IN" sz="2400" dirty="0"/>
              <a:t>Eg : For temperature column we can group it by very cold, cold, mild, warm and hot.</a:t>
            </a:r>
          </a:p>
          <a:p>
            <a:pPr algn="just"/>
            <a:r>
              <a:rPr lang="en-IN" sz="2400" dirty="0"/>
              <a:t>Create pivot charts using the improved dataset.</a:t>
            </a:r>
          </a:p>
          <a:p>
            <a:pPr algn="just"/>
            <a:r>
              <a:rPr lang="en-IN" sz="2400" dirty="0"/>
              <a:t>Then we create various charts and graphs using pivot table, so that we can connect all the graphs and charts to the slicer using pivot table.</a:t>
            </a:r>
          </a:p>
        </p:txBody>
      </p:sp>
    </p:spTree>
    <p:extLst>
      <p:ext uri="{BB962C8B-B14F-4D97-AF65-F5344CB8AC3E}">
        <p14:creationId xmlns:p14="http://schemas.microsoft.com/office/powerpoint/2010/main" val="128492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F4791-317D-C2B3-FABE-67A6E9DEE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86" y="298790"/>
            <a:ext cx="8534400" cy="1507067"/>
          </a:xfrm>
        </p:spPr>
        <p:txBody>
          <a:bodyPr/>
          <a:lstStyle/>
          <a:p>
            <a:r>
              <a:rPr lang="en-IN" dirty="0"/>
              <a:t>Objective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28C03-C1BD-3BF2-67CA-2B51E1F32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2973" y="1704256"/>
            <a:ext cx="8534400" cy="3615267"/>
          </a:xfrm>
        </p:spPr>
        <p:txBody>
          <a:bodyPr anchor="t">
            <a:normAutofit/>
          </a:bodyPr>
          <a:lstStyle/>
          <a:p>
            <a:pPr algn="just"/>
            <a:r>
              <a:rPr lang="en-IN" sz="2400" dirty="0"/>
              <a:t>We can create correlation table and many other things using data analysis option in excel.</a:t>
            </a:r>
          </a:p>
          <a:p>
            <a:pPr algn="just"/>
            <a:r>
              <a:rPr lang="en-IN" sz="2400" dirty="0"/>
              <a:t>Then we create a forecast to see the customer demands in the future which also shows the lowest possibility and the highest possibility.(if needed)</a:t>
            </a:r>
          </a:p>
          <a:p>
            <a:pPr algn="just"/>
            <a:r>
              <a:rPr lang="en-IN" sz="2400" dirty="0"/>
              <a:t>After everything is done we can design the charts, graphs and tables for better look and professional look. </a:t>
            </a:r>
          </a:p>
        </p:txBody>
      </p:sp>
    </p:spTree>
    <p:extLst>
      <p:ext uri="{BB962C8B-B14F-4D97-AF65-F5344CB8AC3E}">
        <p14:creationId xmlns:p14="http://schemas.microsoft.com/office/powerpoint/2010/main" val="3248455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EF2DA-A84C-A5C6-806F-BEEE87127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339" y="318558"/>
            <a:ext cx="8534400" cy="1507067"/>
          </a:xfrm>
        </p:spPr>
        <p:txBody>
          <a:bodyPr/>
          <a:lstStyle/>
          <a:p>
            <a:r>
              <a:rPr lang="en-IN" dirty="0"/>
              <a:t>Customer distribution by wind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B46F0-3954-4477-6639-39160412A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05500"/>
            <a:ext cx="7755194" cy="4351338"/>
          </a:xfrm>
        </p:spPr>
        <p:txBody>
          <a:bodyPr anchor="t">
            <a:normAutofit/>
          </a:bodyPr>
          <a:lstStyle/>
          <a:p>
            <a:pPr algn="just"/>
            <a:r>
              <a:rPr lang="en-IN" sz="2400" dirty="0"/>
              <a:t>Moderate wind (0.00 to 0.15) recorded the highest customer count with 24,285 customers.</a:t>
            </a:r>
          </a:p>
          <a:p>
            <a:pPr algn="just"/>
            <a:r>
              <a:rPr lang="en-IN" sz="2400" dirty="0"/>
              <a:t>Calm and moderate wind together has more than 75% of customers.</a:t>
            </a:r>
          </a:p>
          <a:p>
            <a:pPr algn="just"/>
            <a:r>
              <a:rPr lang="en-IN" sz="2400" dirty="0"/>
              <a:t>This suggests that stronger winds may reduce the number of customer visits.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0C814F4-11AD-239B-2194-15DBB2BBC7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1833327"/>
              </p:ext>
            </p:extLst>
          </p:nvPr>
        </p:nvGraphicFramePr>
        <p:xfrm>
          <a:off x="8649496" y="1690688"/>
          <a:ext cx="3542504" cy="27689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73157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60A48-71F1-0D42-6FC0-DA617EF94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391" y="251148"/>
            <a:ext cx="9826473" cy="1507067"/>
          </a:xfrm>
        </p:spPr>
        <p:txBody>
          <a:bodyPr/>
          <a:lstStyle/>
          <a:p>
            <a:r>
              <a:rPr lang="en-IN" dirty="0"/>
              <a:t>Customer distribution by 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8858E-391D-DB8B-951F-D041548AB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514" y="2062315"/>
            <a:ext cx="7260254" cy="3615267"/>
          </a:xfrm>
        </p:spPr>
        <p:txBody>
          <a:bodyPr anchor="t"/>
          <a:lstStyle/>
          <a:p>
            <a:pPr algn="just"/>
            <a:r>
              <a:rPr lang="en-IN" dirty="0"/>
              <a:t>Cold Temperature has the highest percentage of customers with 55% customers.</a:t>
            </a:r>
          </a:p>
          <a:p>
            <a:pPr algn="just"/>
            <a:r>
              <a:rPr lang="en-IN" dirty="0"/>
              <a:t>Hot temperature has the lowest percentage of customers with 0% customers.(i.e. no customer)</a:t>
            </a:r>
          </a:p>
          <a:p>
            <a:pPr algn="just"/>
            <a:r>
              <a:rPr lang="en-IN" dirty="0"/>
              <a:t>As the temperature increases the number of customers decreases.</a:t>
            </a:r>
          </a:p>
          <a:p>
            <a:pPr algn="just"/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FDB25AD-5891-78DC-AAF1-FDD9D1290D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9122314"/>
              </p:ext>
            </p:extLst>
          </p:nvPr>
        </p:nvGraphicFramePr>
        <p:xfrm>
          <a:off x="8392462" y="2044547"/>
          <a:ext cx="3799538" cy="27689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6529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A687-2DDF-3EEB-5B4F-EC8997C14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85" y="249903"/>
            <a:ext cx="10632717" cy="1507067"/>
          </a:xfrm>
        </p:spPr>
        <p:txBody>
          <a:bodyPr/>
          <a:lstStyle/>
          <a:p>
            <a:r>
              <a:rPr lang="en-IN" dirty="0"/>
              <a:t>Customer distribution by humidity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4E680-2A9F-7297-6E18-A8C0FCCE3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568" y="2001972"/>
            <a:ext cx="8245218" cy="3615267"/>
          </a:xfrm>
        </p:spPr>
        <p:txBody>
          <a:bodyPr anchor="t"/>
          <a:lstStyle/>
          <a:p>
            <a:pPr algn="just"/>
            <a:r>
              <a:rPr lang="en-IN" dirty="0"/>
              <a:t>Medium humidity (0.40 to 0.69) recorded the highest percentage with 57% customers.</a:t>
            </a:r>
          </a:p>
          <a:p>
            <a:pPr algn="just"/>
            <a:r>
              <a:rPr lang="en-IN" dirty="0"/>
              <a:t>High humidity (0.70 to 1.00) recorded the lowest percentage with 20% customers.</a:t>
            </a:r>
          </a:p>
          <a:p>
            <a:pPr algn="just"/>
            <a:r>
              <a:rPr lang="en-IN" dirty="0"/>
              <a:t>Customers prefer moderate humidity level for bike riding.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3EF31E8-3B31-6FBA-AC94-DC77C6FDCE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3639111"/>
              </p:ext>
            </p:extLst>
          </p:nvPr>
        </p:nvGraphicFramePr>
        <p:xfrm>
          <a:off x="9149787" y="2001972"/>
          <a:ext cx="3042214" cy="27689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4323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DBFC2-80A9-E73F-3E6D-BB12F72D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870" y="270113"/>
            <a:ext cx="8534400" cy="1507067"/>
          </a:xfrm>
        </p:spPr>
        <p:txBody>
          <a:bodyPr/>
          <a:lstStyle/>
          <a:p>
            <a:r>
              <a:rPr lang="en-IN" dirty="0"/>
              <a:t>Overall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C846F-8CA3-BD67-D8A2-5C6C33497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554" y="1777180"/>
            <a:ext cx="10815485" cy="4008557"/>
          </a:xfrm>
        </p:spPr>
        <p:txBody>
          <a:bodyPr anchor="t">
            <a:normAutofit/>
          </a:bodyPr>
          <a:lstStyle/>
          <a:p>
            <a:pPr algn="just"/>
            <a:r>
              <a:rPr lang="en-IN" dirty="0"/>
              <a:t>Clear and favourable weather conditions generally attract more customers, whereas rainy or snowy conditions are associated with lower usage.</a:t>
            </a:r>
          </a:p>
          <a:p>
            <a:pPr algn="just"/>
            <a:r>
              <a:rPr lang="en-IN" dirty="0"/>
              <a:t>Customer activity is highest during Cold and Mild temperatures, while Warm and Hot conditions contribute comparatively fewer rentals. </a:t>
            </a:r>
          </a:p>
          <a:p>
            <a:pPr algn="just"/>
            <a:r>
              <a:rPr lang="en-IN" dirty="0"/>
              <a:t>Moderate wind conditions account for the largest share of customers.</a:t>
            </a:r>
          </a:p>
          <a:p>
            <a:pPr algn="just"/>
            <a:r>
              <a:rPr lang="en-IN" dirty="0"/>
              <a:t>Most rental records show a significantly higher proportion of registered users, suggesting strong customer loyalty and frequent usage. </a:t>
            </a:r>
          </a:p>
          <a:p>
            <a:pPr algn="just"/>
            <a:r>
              <a:rPr lang="en-IN" dirty="0"/>
              <a:t>Rental activity tends to increase during morning and evening hours, reflecting commuting patterns of regular users.</a:t>
            </a:r>
          </a:p>
        </p:txBody>
      </p:sp>
    </p:spTree>
    <p:extLst>
      <p:ext uri="{BB962C8B-B14F-4D97-AF65-F5344CB8AC3E}">
        <p14:creationId xmlns:p14="http://schemas.microsoft.com/office/powerpoint/2010/main" val="4266879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E549-0449-4D74-E2E1-67EB48F5A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04336"/>
            <a:ext cx="12192000" cy="3657599"/>
          </a:xfrm>
        </p:spPr>
        <p:txBody>
          <a:bodyPr>
            <a:normAutofit/>
          </a:bodyPr>
          <a:lstStyle/>
          <a:p>
            <a:pPr algn="ctr"/>
            <a:r>
              <a:rPr lang="en-IN" sz="13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8332774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668</TotalTime>
  <Words>644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Slice</vt:lpstr>
      <vt:lpstr>NEXTHIKES</vt:lpstr>
      <vt:lpstr>Project Description</vt:lpstr>
      <vt:lpstr>Dataset</vt:lpstr>
      <vt:lpstr>Objectives - 1</vt:lpstr>
      <vt:lpstr>Objectives - 2</vt:lpstr>
      <vt:lpstr>Objective - 3</vt:lpstr>
      <vt:lpstr>Objective - 4</vt:lpstr>
      <vt:lpstr>Customer distribution by wind</vt:lpstr>
      <vt:lpstr>Customer distribution by Temperature</vt:lpstr>
      <vt:lpstr>Customer distribution by humidity</vt:lpstr>
      <vt:lpstr>Overall interpretation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Rajwin George</dc:creator>
  <cp:lastModifiedBy>Rajwin George</cp:lastModifiedBy>
  <cp:revision>4</cp:revision>
  <dcterms:created xsi:type="dcterms:W3CDTF">2026-07-23T18:21:54Z</dcterms:created>
  <dcterms:modified xsi:type="dcterms:W3CDTF">2026-07-27T18:12:57Z</dcterms:modified>
</cp:coreProperties>
</file>